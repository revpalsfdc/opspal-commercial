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Organization: RevPal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Mermaid rendering unavailable; using process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Gartner 2023; McKinsey 2021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Customer Study 2024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3"/>
          </a:solidFill>
          <a:ln w="12700">
            <a:solidFill>
              <a:srgbClr val="F6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pic>
        <p:nvPicPr>
          <p:cNvPr id="4" name="Image 0" descr="RevPal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7695" y="228600"/>
            <a:ext cx="67056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737360"/>
            <a:ext cx="10545775" cy="2103120"/>
          </a:xfrm>
          <a:prstGeom prst="rect">
            <a:avLst/>
          </a:prstGeom>
          <a:solidFill>
            <a:srgbClr val="EAE4DC"/>
          </a:solidFill>
          <a:ln w="12700">
            <a:solidFill>
              <a:srgbClr val="C6C3B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737360"/>
            <a:ext cx="73152" cy="2103120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1892808"/>
            <a:ext cx="102440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F3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RevPal Master Template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051560" y="2743200"/>
            <a:ext cx="1024402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Programmatic Style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640080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OpsPal by RevPal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3"/>
          </a:solidFill>
          <a:ln w="12700">
            <a:solidFill>
              <a:srgbClr val="F6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5F3B8C"/>
          </a:solidFill>
          <a:ln w="12700">
            <a:solidFill>
              <a:srgbClr val="5F3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194560"/>
            <a:ext cx="10545775" cy="1920240"/>
          </a:xfrm>
          <a:prstGeom prst="rect">
            <a:avLst/>
          </a:prstGeom>
          <a:solidFill>
            <a:srgbClr val="EAE4DC"/>
          </a:solidFill>
          <a:ln w="12700">
            <a:solidFill>
              <a:srgbClr val="C6C3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350008"/>
            <a:ext cx="1280160" cy="36576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651760"/>
            <a:ext cx="1024402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F3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Overview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3"/>
          </a:solidFill>
          <a:ln w="12700">
            <a:solidFill>
              <a:srgbClr val="F6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3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371600" cy="36576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18488"/>
            <a:ext cx="10545775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3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28216"/>
            <a:ext cx="102440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3B8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Pipeline quality must catch up to volume.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8408" y="2304288"/>
            <a:ext cx="10244023" cy="3648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• Revenue momentum is strong, but pipeline quality is uneven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• Automate lead routing to reduce response time and drop-off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• Focus Q2 on activation, retention,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• expansion levers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640080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OpsPal by RevPal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3"/>
          </a:solidFill>
          <a:ln w="12700">
            <a:solidFill>
              <a:srgbClr val="F6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3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371600" cy="36576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18488"/>
            <a:ext cx="10545775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3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73936"/>
            <a:ext cx="10244023" cy="4178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• Align cross-team metrics to remove reporting friction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640080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OpsPal by RevPal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3"/>
          </a:solidFill>
          <a:ln w="12700">
            <a:solidFill>
              <a:srgbClr val="F6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3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Narrative Insight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371600" cy="36576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18488"/>
            <a:ext cx="10545775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3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28216"/>
            <a:ext cx="102440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3B8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More volume, lower yield, rising response time.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8408" y="2304288"/>
            <a:ext cx="10244023" cy="3648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• Pipeline growth outpaced conversion, creating volume without enough yield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• Response times rose as routing rules expanded across tools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640080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OpsPal by RevPal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3"/>
          </a:solidFill>
          <a:ln w="12700">
            <a:solidFill>
              <a:srgbClr val="F6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3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Narrative Insight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371600" cy="36576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18488"/>
            <a:ext cx="10545775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3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73936"/>
            <a:ext cx="10244023" cy="4178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• Teams need a single source of truth for stage definitions and SLAs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640080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OpsPal by RevPal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3"/>
          </a:solidFill>
          <a:ln w="12700">
            <a:solidFill>
              <a:srgbClr val="F6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3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371600" cy="36576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18488"/>
            <a:ext cx="10545775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3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28216"/>
            <a:ext cx="102440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3B8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One workflow will increase speed and trust.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8408" y="2304288"/>
            <a:ext cx="10244023" cy="3648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• Consolidate routing logic into one workflow to improve speed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• data trust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640080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OpsPal by RevPal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3"/>
          </a:solidFill>
          <a:ln w="12700">
            <a:solidFill>
              <a:srgbClr val="F6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3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RevPal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371600" cy="36576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18488"/>
            <a:ext cx="10545775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3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73936"/>
            <a:ext cx="10244023" cy="4178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• 1 | Nail the basics: clean data, clear ownership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• 2 | Sync up, level up: shared definitions and SLAs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• 3 | Master the pipeline: faster routing, higher conversion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640080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OpsPal by RevPal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3"/>
          </a:solidFill>
          <a:ln w="12700">
            <a:solidFill>
              <a:srgbClr val="F6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3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 Snapshot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371600" cy="36576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91640"/>
            <a:ext cx="5067148" cy="1645920"/>
          </a:xfrm>
          <a:prstGeom prst="rect">
            <a:avLst/>
          </a:prstGeom>
          <a:solidFill>
            <a:srgbClr val="EAE4DC"/>
          </a:solidFill>
          <a:ln w="12700">
            <a:solidFill>
              <a:srgbClr val="C6C3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91640"/>
            <a:ext cx="5067148" cy="36576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847088"/>
            <a:ext cx="47653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F3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78408" y="2514600"/>
            <a:ext cx="4765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QoQ Revenue Growth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1588" y="1691640"/>
            <a:ext cx="5067148" cy="1645920"/>
          </a:xfrm>
          <a:prstGeom prst="rect">
            <a:avLst/>
          </a:prstGeom>
          <a:solidFill>
            <a:srgbClr val="EAE4DC"/>
          </a:solidFill>
          <a:ln w="12700">
            <a:solidFill>
              <a:srgbClr val="C6C3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1588" y="1691640"/>
            <a:ext cx="5067148" cy="36576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7036" y="1847088"/>
            <a:ext cx="47653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F3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112%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57036" y="2514600"/>
            <a:ext cx="4765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Net Revenue Retention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794760"/>
            <a:ext cx="5067148" cy="1645920"/>
          </a:xfrm>
          <a:prstGeom prst="rect">
            <a:avLst/>
          </a:prstGeom>
          <a:solidFill>
            <a:srgbClr val="EAE4DC"/>
          </a:solidFill>
          <a:ln w="12700">
            <a:solidFill>
              <a:srgbClr val="C6C3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794760"/>
            <a:ext cx="5067148" cy="36576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950208"/>
            <a:ext cx="47653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F3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months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78408" y="4617720"/>
            <a:ext cx="4765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CAC Payback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01588" y="3794760"/>
            <a:ext cx="5067148" cy="1645920"/>
          </a:xfrm>
          <a:prstGeom prst="rect">
            <a:avLst/>
          </a:prstGeom>
          <a:solidFill>
            <a:srgbClr val="EAE4DC"/>
          </a:solidFill>
          <a:ln w="12700">
            <a:solidFill>
              <a:srgbClr val="C6C3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1588" y="3794760"/>
            <a:ext cx="5067148" cy="36576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7036" y="3950208"/>
            <a:ext cx="47653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F3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3.2x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457036" y="4617720"/>
            <a:ext cx="4765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Pipeline Coverage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640080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OpsPal by RevPal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3"/>
          </a:solidFill>
          <a:ln w="12700">
            <a:solidFill>
              <a:srgbClr val="F6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5F3B8C"/>
          </a:solidFill>
          <a:ln w="12700">
            <a:solidFill>
              <a:srgbClr val="5F3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194560"/>
            <a:ext cx="10545775" cy="1920240"/>
          </a:xfrm>
          <a:prstGeom prst="rect">
            <a:avLst/>
          </a:prstGeom>
          <a:solidFill>
            <a:srgbClr val="EAE4DC"/>
          </a:solidFill>
          <a:ln w="12700">
            <a:solidFill>
              <a:srgbClr val="C6C3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350008"/>
            <a:ext cx="1280160" cy="36576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651760"/>
            <a:ext cx="1024402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F3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Chart Style Demos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3"/>
          </a:solidFill>
          <a:ln w="12700">
            <a:solidFill>
              <a:srgbClr val="F6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3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Conversion Trend Line Chart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371600" cy="36576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18488"/>
            <a:ext cx="10545775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3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2728" y="5495544"/>
            <a:ext cx="3231794" cy="-1118616"/>
          </a:xfrm>
          <a:prstGeom prst="line">
            <a:avLst/>
          </a:prstGeom>
          <a:noFill/>
          <a:ln w="25400">
            <a:solidFill>
              <a:srgbClr val="5F3B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4522" y="4376928"/>
            <a:ext cx="3231794" cy="-1118616"/>
          </a:xfrm>
          <a:prstGeom prst="line">
            <a:avLst/>
          </a:prstGeom>
          <a:noFill/>
          <a:ln w="25400">
            <a:solidFill>
              <a:srgbClr val="5F3B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16317" y="3258312"/>
            <a:ext cx="3231794" cy="-1118616"/>
          </a:xfrm>
          <a:prstGeom prst="line">
            <a:avLst/>
          </a:prstGeom>
          <a:noFill/>
          <a:ln w="25400">
            <a:solidFill>
              <a:srgbClr val="5F3B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79576" y="5422392"/>
            <a:ext cx="146304" cy="146304"/>
          </a:xfrm>
          <a:prstGeom prst="ellipse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51297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18%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6968" y="558698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11370" y="4303776"/>
            <a:ext cx="146304" cy="146304"/>
          </a:xfrm>
          <a:prstGeom prst="ellipse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5922" y="40111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21%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8762" y="558698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43165" y="3185160"/>
            <a:ext cx="146304" cy="146304"/>
          </a:xfrm>
          <a:prstGeom prst="ellipse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87717" y="28925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24%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50557" y="558698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874959" y="2066544"/>
            <a:ext cx="146304" cy="146304"/>
          </a:xfrm>
          <a:prstGeom prst="ellipse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19511" y="177393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27%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82351" y="558698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40080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OpsPal by RevPal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3"/>
          </a:solidFill>
          <a:ln w="12700">
            <a:solidFill>
              <a:srgbClr val="F6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3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by Segment Horizontal Chart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371600" cy="36576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18488"/>
            <a:ext cx="10545775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3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1288" y="1956816"/>
            <a:ext cx="2674474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27202" y="1956816"/>
            <a:ext cx="6929470" cy="834390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02391" y="1956816"/>
            <a:ext cx="5486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6.2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61288" y="2919222"/>
            <a:ext cx="2674474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Mid-Market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27202" y="2919222"/>
            <a:ext cx="4247094" cy="834390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0016" y="2919222"/>
            <a:ext cx="5486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3.8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61288" y="3881628"/>
            <a:ext cx="2674474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SMB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27202" y="3881628"/>
            <a:ext cx="1564719" cy="834390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7641" y="3881628"/>
            <a:ext cx="5486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1.4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61288" y="4844034"/>
            <a:ext cx="2674474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Expansion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27202" y="4844034"/>
            <a:ext cx="2347078" cy="834390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0000" y="4844034"/>
            <a:ext cx="54864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2.1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640080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OpsPal by RevPal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3"/>
          </a:solidFill>
          <a:ln w="12700">
            <a:solidFill>
              <a:srgbClr val="F6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3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Latest Quarter Highlight Chart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371600" cy="36576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18488"/>
            <a:ext cx="10545775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3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1288" y="3431501"/>
            <a:ext cx="2346122" cy="1881163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956816"/>
            <a:ext cx="2346122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14.5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1288" y="5330952"/>
            <a:ext cx="234612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72002" y="3133110"/>
            <a:ext cx="2346122" cy="2179554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72002" y="1956816"/>
            <a:ext cx="2346122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16.8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72002" y="5330952"/>
            <a:ext cx="234612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2716" y="2821745"/>
            <a:ext cx="2346122" cy="2490919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2716" y="1956816"/>
            <a:ext cx="2346122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19.2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82716" y="5330952"/>
            <a:ext cx="234612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93429" y="2276856"/>
            <a:ext cx="2346122" cy="3035808"/>
          </a:xfrm>
          <a:prstGeom prst="rect">
            <a:avLst/>
          </a:prstGeom>
          <a:solidFill>
            <a:srgbClr val="5F3B8C"/>
          </a:solidFill>
          <a:ln w="12700">
            <a:solidFill>
              <a:srgbClr val="5F3B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93429" y="1956816"/>
            <a:ext cx="2346122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23.4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93429" y="5330952"/>
            <a:ext cx="234612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640080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OpsPal by RevPal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3"/>
          </a:solidFill>
          <a:ln w="12700">
            <a:solidFill>
              <a:srgbClr val="F6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3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Conversion Trend Chart With Insights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371600" cy="36576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18488"/>
            <a:ext cx="10545775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3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1288" y="3288792"/>
            <a:ext cx="2346122" cy="2023872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956816"/>
            <a:ext cx="2346122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18%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1288" y="5330952"/>
            <a:ext cx="234612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72002" y="2951480"/>
            <a:ext cx="2346122" cy="2361184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72002" y="1956816"/>
            <a:ext cx="2346122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21%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72002" y="5330952"/>
            <a:ext cx="234612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2716" y="2614168"/>
            <a:ext cx="2346122" cy="2698496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2716" y="1956816"/>
            <a:ext cx="2346122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24%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82716" y="5330952"/>
            <a:ext cx="234612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93429" y="2276856"/>
            <a:ext cx="2346122" cy="3035808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93429" y="1956816"/>
            <a:ext cx="2346122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27%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93429" y="5330952"/>
            <a:ext cx="234612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640080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OpsPal by RevPal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3"/>
          </a:solidFill>
          <a:ln w="12700">
            <a:solidFill>
              <a:srgbClr val="F6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3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Conversion Trend Chart With Insights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371600" cy="36576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18488"/>
            <a:ext cx="10545775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3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73936"/>
            <a:ext cx="10244023" cy="4178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• Conversion improved each quarter as routing rules were simplified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• Q4 gain was driven by faster SLA adherence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• Enablement lifted mid-market response rates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640080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OpsPal by RevPal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3"/>
          </a:solidFill>
          <a:ln w="12700">
            <a:solidFill>
              <a:srgbClr val="F6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5F3B8C"/>
          </a:solidFill>
          <a:ln w="12700">
            <a:solidFill>
              <a:srgbClr val="5F3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194560"/>
            <a:ext cx="10545775" cy="1920240"/>
          </a:xfrm>
          <a:prstGeom prst="rect">
            <a:avLst/>
          </a:prstGeom>
          <a:solidFill>
            <a:srgbClr val="EAE4DC"/>
          </a:solidFill>
          <a:ln w="12700">
            <a:solidFill>
              <a:srgbClr val="C6C3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350008"/>
            <a:ext cx="1280160" cy="36576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651760"/>
            <a:ext cx="1024402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F3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 &amp; Timeline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3"/>
          </a:solidFill>
          <a:ln w="12700">
            <a:solidFill>
              <a:srgbClr val="F6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3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Routing Workflow Diagram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371600" cy="36576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18488"/>
            <a:ext cx="10545775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3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3593592"/>
            <a:ext cx="9448495" cy="36576"/>
          </a:xfrm>
          <a:prstGeom prst="rect">
            <a:avLst/>
          </a:prstGeom>
          <a:solidFill>
            <a:srgbClr val="C6C3BD"/>
          </a:solidFill>
          <a:ln w="12700">
            <a:solidFill>
              <a:srgbClr val="C6C3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6152" y="3438144"/>
            <a:ext cx="310896" cy="310896"/>
          </a:xfrm>
          <a:prstGeom prst="ellipse">
            <a:avLst/>
          </a:prstGeom>
          <a:solidFill>
            <a:srgbClr val="5F3B8C"/>
          </a:solidFill>
          <a:ln w="12700">
            <a:solidFill>
              <a:srgbClr val="5F3B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34564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3968496"/>
            <a:ext cx="9509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Request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Intake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78276" y="3438144"/>
            <a:ext cx="310896" cy="310896"/>
          </a:xfrm>
          <a:prstGeom prst="ellipse">
            <a:avLst/>
          </a:prstGeom>
          <a:solidFill>
            <a:srgbClr val="5F3B8C"/>
          </a:solidFill>
          <a:ln w="12700">
            <a:solidFill>
              <a:srgbClr val="5F3B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78276" y="34564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70768" y="3968496"/>
            <a:ext cx="2125911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Validate Fields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0400" y="3438144"/>
            <a:ext cx="310896" cy="310896"/>
          </a:xfrm>
          <a:prstGeom prst="ellipse">
            <a:avLst/>
          </a:prstGeom>
          <a:solidFill>
            <a:srgbClr val="5F3B8C"/>
          </a:solidFill>
          <a:ln w="12700">
            <a:solidFill>
              <a:srgbClr val="5F3B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0400" y="34564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32892" y="3968496"/>
            <a:ext cx="2125911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Route to Owner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02523" y="3438144"/>
            <a:ext cx="310896" cy="310896"/>
          </a:xfrm>
          <a:prstGeom prst="ellipse">
            <a:avLst/>
          </a:prstGeom>
          <a:solidFill>
            <a:srgbClr val="5F3B8C"/>
          </a:solidFill>
          <a:ln w="12700">
            <a:solidFill>
              <a:srgbClr val="5F3B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523" y="34564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95016" y="3968496"/>
            <a:ext cx="2125911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Notify Stakeholders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664647" y="3438144"/>
            <a:ext cx="310896" cy="310896"/>
          </a:xfrm>
          <a:prstGeom prst="ellipse">
            <a:avLst/>
          </a:prstGeom>
          <a:solidFill>
            <a:srgbClr val="5F3B8C"/>
          </a:solidFill>
          <a:ln w="12700">
            <a:solidFill>
              <a:srgbClr val="5F3B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64647" y="34564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344607" y="3968496"/>
            <a:ext cx="9509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Log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Outcome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640080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OpsPal by RevPal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3"/>
          </a:solidFill>
          <a:ln w="12700">
            <a:solidFill>
              <a:srgbClr val="F6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3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Timeline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371600" cy="36576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18488"/>
            <a:ext cx="10545775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3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42284" y="4251960"/>
            <a:ext cx="4907128" cy="36576"/>
          </a:xfrm>
          <a:prstGeom prst="rect">
            <a:avLst/>
          </a:prstGeom>
          <a:solidFill>
            <a:srgbClr val="C6C3BD"/>
          </a:solidFill>
          <a:ln w="12700">
            <a:solidFill>
              <a:srgbClr val="C6C3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05124" y="4114800"/>
            <a:ext cx="274320" cy="274320"/>
          </a:xfrm>
          <a:prstGeom prst="ellipse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6215" y="2999232"/>
            <a:ext cx="147213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Pilot rollout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40833" y="4114800"/>
            <a:ext cx="274320" cy="274320"/>
          </a:xfrm>
          <a:prstGeom prst="ellipse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1924" y="2615184"/>
            <a:ext cx="1472138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Full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76542" y="4114800"/>
            <a:ext cx="274320" cy="274320"/>
          </a:xfrm>
          <a:prstGeom prst="ellipse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7633" y="2615184"/>
            <a:ext cx="1472138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Optimize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playbooks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12251" y="4114800"/>
            <a:ext cx="274320" cy="274320"/>
          </a:xfrm>
          <a:prstGeom prst="ellipse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3342" y="2615184"/>
            <a:ext cx="1472138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Scale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and iterate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640080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OpsPal by RevPal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3"/>
          </a:solidFill>
          <a:ln w="12700">
            <a:solidFill>
              <a:srgbClr val="F6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5F3B8C"/>
          </a:solidFill>
          <a:ln w="12700">
            <a:solidFill>
              <a:srgbClr val="5F3B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194560"/>
            <a:ext cx="10545775" cy="1920240"/>
          </a:xfrm>
          <a:prstGeom prst="rect">
            <a:avLst/>
          </a:prstGeom>
          <a:solidFill>
            <a:srgbClr val="EAE4DC"/>
          </a:solidFill>
          <a:ln w="12700">
            <a:solidFill>
              <a:srgbClr val="C6C3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350008"/>
            <a:ext cx="1280160" cy="36576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651760"/>
            <a:ext cx="1024402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F3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Evidence &amp; Quotes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3"/>
          </a:solidFill>
          <a:ln w="12700">
            <a:solidFill>
              <a:srgbClr val="F6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3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Evidence Signal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371600" cy="36576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18488"/>
            <a:ext cx="10545775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3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28216"/>
            <a:ext cx="102440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3B8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External benchmarks confirm the lift.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8408" y="2304288"/>
            <a:ext cx="10244023" cy="3648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• Pipeline response time improved 32% after routing cleanup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• Data-driven teams are 19x more likely to be profitable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640080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OpsPal by RevPal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608076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Sources: Gartner 2023; McKinsey 2021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3"/>
          </a:solidFill>
          <a:ln w="12700">
            <a:solidFill>
              <a:srgbClr val="F6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3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Stakeholder Voice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371600" cy="36576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18488"/>
            <a:ext cx="10545775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3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47088"/>
            <a:ext cx="10088575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"Clean routing rules cut our response time in half and restored trust in the data."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5367528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F3B8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- RevOps Director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640080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OpsPal by RevPal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608076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Sources: Customer Study 2024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3"/>
          </a:solidFill>
          <a:ln w="12700">
            <a:solidFill>
              <a:srgbClr val="F6F5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3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Glossary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371600" cy="36576"/>
          </a:xfrm>
          <a:prstGeom prst="rect">
            <a:avLst/>
          </a:prstGeom>
          <a:solidFill>
            <a:srgbClr val="E99560"/>
          </a:solidFill>
          <a:ln w="12700">
            <a:solidFill>
              <a:srgbClr val="E9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18488"/>
            <a:ext cx="10545775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3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28216"/>
            <a:ext cx="102440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3B8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Define the key terms once.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8408" y="2304288"/>
            <a:ext cx="10244023" cy="3648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• SLA: Response time commitment for inbound requests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• NRR: Net Revenue Retention for existing customers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3E4A6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• CAC: Customer Acquisition Cost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640080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OpsPal by RevPal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Figtre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RevPal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RevPal Master Template</dc:title>
  <dc:subject>RevPal Master Template</dc:subject>
  <dc:creator>OpsPal by RevPal</dc:creator>
  <cp:lastModifiedBy>OpsPal by RevPal</cp:lastModifiedBy>
  <cp:revision>1</cp:revision>
  <dcterms:created xsi:type="dcterms:W3CDTF">2026-01-02T00:02:54Z</dcterms:created>
  <dcterms:modified xsi:type="dcterms:W3CDTF">2026-01-02T00:02:54Z</dcterms:modified>
</cp:coreProperties>
</file>